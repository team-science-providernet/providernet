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Hanken Grotesk Medium"/>
      <p:regular r:id="rId11"/>
      <p:bold r:id="rId12"/>
      <p:italic r:id="rId13"/>
      <p:boldItalic r:id="rId14"/>
    </p:embeddedFont>
    <p:embeddedFont>
      <p:font typeface="Neuton Light"/>
      <p:regular r:id="rId15"/>
      <p:bold r:id="rId16"/>
      <p:boldItalic r:id="rId17"/>
    </p:embeddedFont>
    <p:embeddedFont>
      <p:font typeface="Hanken Grotesk"/>
      <p:regular r:id="rId18"/>
      <p:bold r:id="rId19"/>
      <p:italic r:id="rId20"/>
      <p:boldItalic r:id="rId21"/>
    </p:embeddedFont>
    <p:embeddedFont>
      <p:font typeface="Hanken Grotesk SemiBold"/>
      <p:regular r:id="rId22"/>
      <p:bold r:id="rId23"/>
      <p:italic r:id="rId24"/>
      <p:boldItalic r:id="rId25"/>
    </p:embeddedFont>
    <p:embeddedFont>
      <p:font typeface="Neuton"/>
      <p:regular r:id="rId26"/>
      <p:bold r:id="rId27"/>
      <p:italic r:id="rId28"/>
    </p:embeddedFont>
    <p:embeddedFont>
      <p:font typeface="Hanken Grotesk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-italic.fntdata"/><Relationship Id="rId22" Type="http://schemas.openxmlformats.org/officeDocument/2006/relationships/font" Target="fonts/HankenGroteskSemiBold-regular.fntdata"/><Relationship Id="rId21" Type="http://schemas.openxmlformats.org/officeDocument/2006/relationships/font" Target="fonts/HankenGrotesk-boldItalic.fntdata"/><Relationship Id="rId24" Type="http://schemas.openxmlformats.org/officeDocument/2006/relationships/font" Target="fonts/HankenGroteskSemiBold-italic.fntdata"/><Relationship Id="rId23" Type="http://schemas.openxmlformats.org/officeDocument/2006/relationships/font" Target="fonts/HankenGrotesk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euton-regular.fntdata"/><Relationship Id="rId25" Type="http://schemas.openxmlformats.org/officeDocument/2006/relationships/font" Target="fonts/HankenGroteskSemiBold-boldItalic.fntdata"/><Relationship Id="rId28" Type="http://schemas.openxmlformats.org/officeDocument/2006/relationships/font" Target="fonts/Neuton-italic.fntdata"/><Relationship Id="rId27" Type="http://schemas.openxmlformats.org/officeDocument/2006/relationships/font" Target="fonts/Neuton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ankenGrotesk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ankenGroteskLight-italic.fntdata"/><Relationship Id="rId30" Type="http://schemas.openxmlformats.org/officeDocument/2006/relationships/font" Target="fonts/HankenGroteskLight-bold.fntdata"/><Relationship Id="rId11" Type="http://schemas.openxmlformats.org/officeDocument/2006/relationships/font" Target="fonts/HankenGroteskMedium-regular.fntdata"/><Relationship Id="rId10" Type="http://schemas.openxmlformats.org/officeDocument/2006/relationships/slide" Target="slides/slide4.xml"/><Relationship Id="rId32" Type="http://schemas.openxmlformats.org/officeDocument/2006/relationships/font" Target="fonts/HankenGroteskLight-boldItalic.fntdata"/><Relationship Id="rId13" Type="http://schemas.openxmlformats.org/officeDocument/2006/relationships/font" Target="fonts/HankenGroteskMedium-italic.fntdata"/><Relationship Id="rId12" Type="http://schemas.openxmlformats.org/officeDocument/2006/relationships/font" Target="fonts/HankenGroteskMedium-bold.fntdata"/><Relationship Id="rId15" Type="http://schemas.openxmlformats.org/officeDocument/2006/relationships/font" Target="fonts/NeutonLight-regular.fntdata"/><Relationship Id="rId14" Type="http://schemas.openxmlformats.org/officeDocument/2006/relationships/font" Target="fonts/HankenGroteskMedium-boldItalic.fntdata"/><Relationship Id="rId17" Type="http://schemas.openxmlformats.org/officeDocument/2006/relationships/font" Target="fonts/NeutonLight-boldItalic.fntdata"/><Relationship Id="rId16" Type="http://schemas.openxmlformats.org/officeDocument/2006/relationships/font" Target="fonts/NeutonLight-bold.fntdata"/><Relationship Id="rId19" Type="http://schemas.openxmlformats.org/officeDocument/2006/relationships/font" Target="fonts/HankenGrotesk-bold.fntdata"/><Relationship Id="rId18" Type="http://schemas.openxmlformats.org/officeDocument/2006/relationships/font" Target="fonts/HankenGrotes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cb68feb4a7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cb68feb4a7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cb68feb4a7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cb68feb4a7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cb68feb4a7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cb68feb4a7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cb68feb4a7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cb68feb4a7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4" name="Google Shape;74;p15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6" name="Google Shape;76;p15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8" name="Google Shape;78;p15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0" name="Google Shape;80;p15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1" name="Google Shape;81;p15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6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16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16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" name="Google Shape;96;p16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" name="Google Shape;99;p16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16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1" name="Google Shape;101;p16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2" name="Google Shape;102;p16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17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7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17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9" name="Google Shape;119;p17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7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17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" name="Google Shape;122;p17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7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7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8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132" name="Google Shape;132;p18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18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1" name="Google Shape;141;p19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2" name="Google Shape;142;p19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143" name="Google Shape;143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46" name="Google Shape;146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49" name="Google Shape;149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52" name="Google Shape;152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20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6" name="Google Shape;166;p21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8" name="Google Shape;168;p21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0" name="Google Shape;170;p21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2" name="Google Shape;172;p21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21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7" name="Google Shape;177;p21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1" name="Google Shape;181;p22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2" name="Google Shape;182;p22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3" name="Google Shape;183;p22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5" name="Google Shape;185;p22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2" name="Google Shape;202;p2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2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2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1" name="Google Shape;231;p24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4" name="Google Shape;234;p24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5" name="Google Shape;235;p24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6" name="Google Shape;236;p24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7" name="Google Shape;237;p24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8" name="Google Shape;238;p24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9" name="Google Shape;239;p24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24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24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1" name="Google Shape;261;p25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8" name="Google Shape;278;p25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25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25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25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7" name="Google Shape;287;p2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8" name="Google Shape;288;p2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9" name="Google Shape;289;p2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0" name="Google Shape;290;p2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26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26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26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26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26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26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26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26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6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3" name="Google Shape;313;p26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4" name="Google Shape;314;p26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5" name="Google Shape;315;p26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6" name="Google Shape;316;p26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7" name="Google Shape;317;p26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6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6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6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3" name="Google Shape;323;p2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5" name="Google Shape;325;p2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328" name="Google Shape;328;p2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9" name="Google Shape;329;p2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2" name="Google Shape;332;p2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3" name="Google Shape;333;p2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5" name="Google Shape;335;p2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6" name="Google Shape;336;p2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" name="Google Shape;337;p2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8" name="Google Shape;338;p2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1" name="Google Shape;341;p2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2" name="Google Shape;342;p2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3" name="Google Shape;343;p2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4" name="Google Shape;344;p2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2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6" name="Google Shape;346;p2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2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2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49" name="Google Shape;349;p2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0" name="Google Shape;350;p2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1" name="Google Shape;351;p2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2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3" name="Google Shape;353;p2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4" name="Google Shape;354;p2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2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2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7" name="Google Shape;357;p2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8" name="Google Shape;358;p2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9" name="Google Shape;359;p2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2" name="Google Shape;362;p28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3" name="Google Shape;363;p28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4" name="Google Shape;364;p28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5" name="Google Shape;365;p28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28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3" name="Google Shape;373;p28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28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28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28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4" name="Google Shape;384;p28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7" name="Google Shape;387;p28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28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9" name="Google Shape;389;p28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28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28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4" name="Google Shape;394;p2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95" name="Google Shape;395;p29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29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7" name="Google Shape;397;p29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29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0" name="Google Shape;400;p29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1" name="Google Shape;401;p29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4" name="Google Shape;404;p29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29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9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9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8" name="Google Shape;408;p29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9" name="Google Shape;409;p29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0" name="Google Shape;410;p29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1" name="Google Shape;411;p29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2" name="Google Shape;412;p29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3" name="Google Shape;413;p29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4" name="Google Shape;414;p29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5" name="Google Shape;415;p29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6" name="Google Shape;416;p29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30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30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30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30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30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30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7" name="Google Shape;427;p30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8" name="Google Shape;428;p30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1" name="Google Shape;431;p30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2" name="Google Shape;432;p30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8" name="Google Shape;438;p3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9" name="Google Shape;439;p31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1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1" name="Google Shape;441;p31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31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3" name="Google Shape;443;p31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31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6" name="Google Shape;446;p31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31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50" name="Google Shape;450;p3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51" name="Google Shape;451;p3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3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3" name="Google Shape;453;p3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4" name="Google Shape;454;p3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5" name="Google Shape;455;p3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3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7" name="Google Shape;457;p3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3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3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3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3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3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3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5" name="Google Shape;465;p3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6" name="Google Shape;466;p3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7" name="Google Shape;467;p3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3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2" name="Google Shape;472;p3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3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3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5" name="Google Shape;475;p3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3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3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1" name="Google Shape;481;p3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2" name="Google Shape;482;p3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3" name="Google Shape;483;p3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4" name="Google Shape;484;p3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5" name="Google Shape;485;p3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7" name="Google Shape;487;p3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4" name="Google Shape;494;p3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5" name="Google Shape;495;p3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97" name="Google Shape;497;p3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98" name="Google Shape;498;p3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500" name="Google Shape;500;p3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1" name="Google Shape;501;p3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3" name="Google Shape;503;p3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5" name="Google Shape;505;p3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9" name="Google Shape;509;p3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1" name="Google Shape;511;p3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2" name="Google Shape;512;p3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3" name="Google Shape;513;p3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6" name="Google Shape;516;p3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7" name="Google Shape;517;p3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8" name="Google Shape;518;p3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2" name="Google Shape;522;p3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3" name="Google Shape;523;p3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4" name="Google Shape;524;p3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3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8" name="Google Shape;528;p37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9" name="Google Shape;529;p37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1" name="Google Shape;531;p37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2" name="Google Shape;532;p37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7" name="Google Shape;537;p37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37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0" name="Google Shape;540;p37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1" name="Google Shape;541;p37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3" name="Google Shape;543;p37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5" name="Google Shape;545;p37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37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37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37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37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37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37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37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7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37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37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6" name="Google Shape;556;p37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7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0" name="Google Shape;560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8" name="Google Shape;568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9" name="Google Shape;569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4" name="Google Shape;574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9" name="Google Shape;579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0" name="Google Shape;580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9" name="Google Shape;589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0" name="Google Shape;590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1" name="Google Shape;591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2" name="Google Shape;592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3" name="Google Shape;593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4" name="Google Shape;594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8" name="Google Shape;598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2" name="Google Shape;602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4" name="Google Shape;604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9" name="Google Shape;609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0" name="Google Shape;610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1" name="Google Shape;611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2" name="Google Shape;612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7" name="Google Shape;617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9" name="Google Shape;619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0" name="Google Shape;620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25" name="Google Shape;625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8" name="Google Shape;628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1" name="Google Shape;63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2" name="Google Shape;632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3" name="Google Shape;633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9" name="Google Shape;639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1" name="Google Shape;64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42" name="Google Shape;642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3" name="Google Shape;643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55" name="Google Shape;655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3" name="Google Shape;663;p5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4" name="Google Shape;664;p5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5" name="Google Shape;665;p59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7600"/>
              <a:t>Customer Discovery 6</a:t>
            </a:r>
            <a:endParaRPr sz="7600"/>
          </a:p>
        </p:txBody>
      </p:sp>
      <p:sp>
        <p:nvSpPr>
          <p:cNvPr id="666" name="Google Shape;666;p59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Jaden Del Rosario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Lydia Holleman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Lola Wood</a:t>
            </a:r>
            <a:endParaRPr/>
          </a:p>
        </p:txBody>
      </p:sp>
      <p:sp>
        <p:nvSpPr>
          <p:cNvPr id="667" name="Google Shape;667;p59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ProviderNet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0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ProviderNet</a:t>
            </a:r>
            <a:endParaRPr/>
          </a:p>
        </p:txBody>
      </p:sp>
      <p:sp>
        <p:nvSpPr>
          <p:cNvPr id="673" name="Google Shape;673;p60"/>
          <p:cNvSpPr txBox="1"/>
          <p:nvPr>
            <p:ph type="title"/>
          </p:nvPr>
        </p:nvSpPr>
        <p:spPr>
          <a:xfrm>
            <a:off x="593700" y="1189900"/>
            <a:ext cx="7948200" cy="19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5700"/>
              <a:t>Uniting Your Health With The Care You’re Covered For.</a:t>
            </a:r>
            <a:endParaRPr sz="5700"/>
          </a:p>
        </p:txBody>
      </p:sp>
      <p:cxnSp>
        <p:nvCxnSpPr>
          <p:cNvPr id="674" name="Google Shape;674;p60"/>
          <p:cNvCxnSpPr/>
          <p:nvPr/>
        </p:nvCxnSpPr>
        <p:spPr>
          <a:xfrm rot="10800000">
            <a:off x="593700" y="35751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5" name="Google Shape;675;p60"/>
          <p:cNvSpPr txBox="1"/>
          <p:nvPr/>
        </p:nvSpPr>
        <p:spPr>
          <a:xfrm>
            <a:off x="678600" y="3752794"/>
            <a:ext cx="77868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ProviderNet is the only platform that unifies the healthcare journey into a single workflow. We’ve replaced the digital chaos of multiple portals with one simple login, giving patients and providers a guided care experience that finally transcends state lines.</a:t>
            </a:r>
            <a:endParaRPr sz="1500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1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1" name="Google Shape;681;p61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2" name="Google Shape;682;p61"/>
          <p:cNvSpPr txBox="1"/>
          <p:nvPr>
            <p:ph idx="2" type="subTitle"/>
          </p:nvPr>
        </p:nvSpPr>
        <p:spPr>
          <a:xfrm>
            <a:off x="2783526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Investing</a:t>
            </a:r>
            <a:endParaRPr/>
          </a:p>
        </p:txBody>
      </p:sp>
      <p:sp>
        <p:nvSpPr>
          <p:cNvPr id="683" name="Google Shape;683;p6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AI Usage</a:t>
            </a:r>
            <a:endParaRPr/>
          </a:p>
        </p:txBody>
      </p:sp>
      <p:sp>
        <p:nvSpPr>
          <p:cNvPr id="684" name="Google Shape;684;p61"/>
          <p:cNvSpPr/>
          <p:nvPr/>
        </p:nvSpPr>
        <p:spPr>
          <a:xfrm>
            <a:off x="1218350" y="1449200"/>
            <a:ext cx="2103300" cy="3488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5" name="Google Shape;685;p61"/>
          <p:cNvSpPr txBox="1"/>
          <p:nvPr>
            <p:ph idx="8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>
                <a:latin typeface="Neuton Light"/>
                <a:ea typeface="Neuton Light"/>
                <a:cs typeface="Neuton Light"/>
                <a:sym typeface="Neuton Light"/>
              </a:rPr>
              <a:t>O</a:t>
            </a:r>
            <a:r>
              <a:rPr lang="en" sz="4000">
                <a:latin typeface="Neuton Light"/>
                <a:ea typeface="Neuton Light"/>
                <a:cs typeface="Neuton Light"/>
                <a:sym typeface="Neuton Light"/>
              </a:rPr>
              <a:t>pinions on AI summaries</a:t>
            </a:r>
            <a:endParaRPr sz="4000">
              <a:latin typeface="Neuton Light"/>
              <a:ea typeface="Neuton Light"/>
              <a:cs typeface="Neuton Light"/>
              <a:sym typeface="Neuton Light"/>
            </a:endParaRPr>
          </a:p>
        </p:txBody>
      </p:sp>
      <p:pic>
        <p:nvPicPr>
          <p:cNvPr id="686" name="Google Shape;686;p61" title="Screenshot 2026-02-26 at 1.53.1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225" y="1493450"/>
            <a:ext cx="5517549" cy="3399898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61"/>
          <p:cNvSpPr txBox="1"/>
          <p:nvPr/>
        </p:nvSpPr>
        <p:spPr>
          <a:xfrm>
            <a:off x="6758600" y="1513325"/>
            <a:ext cx="2246100" cy="3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All providers asked said an AI summary of records would help </a:t>
            </a: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minimize errors due to misreading charts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</a:t>
            </a: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reduce time to look for information 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- currently unorganized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Patients had mixed reviews with some saying they </a:t>
            </a: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understand results already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others saying that would </a:t>
            </a: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help understand next steps</a:t>
            </a:r>
            <a:endParaRPr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3" name="Google Shape;693;p6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4" name="Google Shape;694;p62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How much would you invest</a:t>
            </a:r>
            <a:endParaRPr/>
          </a:p>
        </p:txBody>
      </p:sp>
      <p:sp>
        <p:nvSpPr>
          <p:cNvPr id="695" name="Google Shape;695;p62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AI Usage</a:t>
            </a:r>
            <a:endParaRPr/>
          </a:p>
        </p:txBody>
      </p:sp>
      <p:sp>
        <p:nvSpPr>
          <p:cNvPr id="696" name="Google Shape;696;p62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Investing</a:t>
            </a:r>
            <a:endParaRPr/>
          </a:p>
        </p:txBody>
      </p:sp>
      <p:sp>
        <p:nvSpPr>
          <p:cNvPr id="697" name="Google Shape;697;p62"/>
          <p:cNvSpPr txBox="1"/>
          <p:nvPr/>
        </p:nvSpPr>
        <p:spPr>
          <a:xfrm>
            <a:off x="5796750" y="1668450"/>
            <a:ext cx="3090900" cy="3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Who we asked:</a:t>
            </a:r>
            <a:endParaRPr b="1"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Char char="-"/>
            </a:pPr>
            <a:r>
              <a:rPr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3 Investment Bankers</a:t>
            </a:r>
            <a:endParaRPr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Char char="-"/>
            </a:pPr>
            <a:r>
              <a:rPr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2 people who’ve previously invested in companies as family/friends</a:t>
            </a:r>
            <a:endParaRPr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Char char="-"/>
            </a:pPr>
            <a:r>
              <a:rPr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1 engineer</a:t>
            </a:r>
            <a:endParaRPr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Char char="-"/>
            </a:pPr>
            <a:r>
              <a:rPr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1 administrator at construction company </a:t>
            </a:r>
            <a:endParaRPr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Char char="-"/>
            </a:pPr>
            <a:r>
              <a:rPr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1 data scientist</a:t>
            </a:r>
            <a:endParaRPr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98" name="Google Shape;698;p62" title="Screenshot 2026-02-26 at 2.53.3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350" y="1630738"/>
            <a:ext cx="5491949" cy="338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